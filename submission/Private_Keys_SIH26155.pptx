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MT Pro Bold" charset="1" panose="020B0802020202020204"/>
      <p:regular r:id="rId12"/>
    </p:embeddedFont>
    <p:embeddedFont>
      <p:font typeface="Arial MT Pro" charset="1" panose="020B0502020202020204"/>
      <p:regular r:id="rId13"/>
    </p:embeddedFont>
    <p:embeddedFont>
      <p:font typeface="Calistoga" charset="1" panose="00000000000000000000"/>
      <p:regular r:id="rId14"/>
    </p:embeddedFont>
    <p:embeddedFont>
      <p:font typeface="Times New Roman MT Bold" charset="1" panose="02030802070405020303"/>
      <p:regular r:id="rId15"/>
    </p:embeddedFont>
    <p:embeddedFont>
      <p:font typeface="Canva Sans Bold" charset="1" panose="020B0803030501040103"/>
      <p:regular r:id="rId16"/>
    </p:embeddedFont>
    <p:embeddedFont>
      <p:font typeface="Droid Serif Bold" charset="1" panose="02020800060500020200"/>
      <p:regular r:id="rId17"/>
    </p:embeddedFont>
    <p:embeddedFont>
      <p:font typeface="Roboto Condensed Bold" charset="1" panose="02000000000000000000"/>
      <p:regular r:id="rId18"/>
    </p:embeddedFont>
    <p:embeddedFont>
      <p:font typeface="Poppins Bold" charset="1" panose="00000800000000000000"/>
      <p:regular r:id="rId19"/>
    </p:embeddedFont>
    <p:embeddedFont>
      <p:font typeface="Times New Roman MT" charset="1" panose="02030502070405020303"/>
      <p:regular r:id="rId20"/>
    </p:embeddedFont>
    <p:embeddedFont>
      <p:font typeface="Droid Serif" charset="1" panose="020206000605000202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13" Target="../media/image1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https://github.com/Kumar2004-2009/SIH2026" TargetMode="External" Type="http://schemas.openxmlformats.org/officeDocument/2006/relationships/hyperlink"/><Relationship Id="rId5" Target="https://youtu.be/K6duj_CVVWc?si=js-F1sHZp3jwm33M" TargetMode="External" Type="http://schemas.openxmlformats.org/officeDocument/2006/relationships/hyperlink"/><Relationship Id="rId6" Target="https://sih-2026-cpwv.vercel.app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67759" y="1890274"/>
            <a:ext cx="6953021" cy="7735310"/>
          </a:xfrm>
          <a:custGeom>
            <a:avLst/>
            <a:gdLst/>
            <a:ahLst/>
            <a:cxnLst/>
            <a:rect r="r" b="b" t="t" l="l"/>
            <a:pathLst>
              <a:path h="7735310" w="6953021">
                <a:moveTo>
                  <a:pt x="0" y="0"/>
                </a:moveTo>
                <a:lnTo>
                  <a:pt x="6953021" y="0"/>
                </a:lnTo>
                <a:lnTo>
                  <a:pt x="6953021" y="7735310"/>
                </a:lnTo>
                <a:lnTo>
                  <a:pt x="0" y="773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19343" y="3247396"/>
            <a:ext cx="4805258" cy="5138261"/>
            <a:chOff x="0" y="0"/>
            <a:chExt cx="6407010" cy="685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1015"/>
            </a:xfrm>
            <a:custGeom>
              <a:avLst/>
              <a:gdLst/>
              <a:ahLst/>
              <a:cxnLst/>
              <a:rect r="r" b="b" t="t" l="l"/>
              <a:pathLst>
                <a:path h="6851015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50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14972" y="3130982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4"/>
                </a:lnTo>
                <a:lnTo>
                  <a:pt x="0" y="11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972" y="3945893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972" y="5570439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972" y="7105021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972" y="7919942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972" y="8734854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4"/>
                </a:lnTo>
                <a:lnTo>
                  <a:pt x="0" y="11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941945" y="157172"/>
            <a:ext cx="2158079" cy="1096899"/>
            <a:chOff x="0" y="0"/>
            <a:chExt cx="2877439" cy="1462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77439" cy="1462532"/>
            </a:xfrm>
            <a:custGeom>
              <a:avLst/>
              <a:gdLst/>
              <a:ahLst/>
              <a:cxnLst/>
              <a:rect r="r" b="b" t="t" l="l"/>
              <a:pathLst>
                <a:path h="1462532" w="2877439">
                  <a:moveTo>
                    <a:pt x="0" y="0"/>
                  </a:moveTo>
                  <a:lnTo>
                    <a:pt x="2877439" y="0"/>
                  </a:lnTo>
                  <a:lnTo>
                    <a:pt x="2877439" y="1462532"/>
                  </a:lnTo>
                  <a:lnTo>
                    <a:pt x="0" y="1462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58" r="-67" b="-13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972" y="3130982"/>
            <a:ext cx="116415" cy="116415"/>
            <a:chOff x="0" y="0"/>
            <a:chExt cx="116421" cy="1164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972" y="3945893"/>
            <a:ext cx="116415" cy="116415"/>
            <a:chOff x="0" y="0"/>
            <a:chExt cx="116421" cy="1164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972" y="5570439"/>
            <a:ext cx="116415" cy="116415"/>
            <a:chOff x="0" y="0"/>
            <a:chExt cx="116421" cy="1164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972" y="7105021"/>
            <a:ext cx="116415" cy="116415"/>
            <a:chOff x="0" y="0"/>
            <a:chExt cx="116421" cy="1164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972" y="7919942"/>
            <a:ext cx="116415" cy="116415"/>
            <a:chOff x="0" y="0"/>
            <a:chExt cx="116421" cy="1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972" y="8734854"/>
            <a:ext cx="116415" cy="116415"/>
            <a:chOff x="0" y="0"/>
            <a:chExt cx="116421" cy="1164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522193" y="-2362252"/>
            <a:ext cx="7084905" cy="7861297"/>
            <a:chOff x="0" y="0"/>
            <a:chExt cx="7084911" cy="7861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6957953" cy="7732395"/>
            </a:xfrm>
            <a:custGeom>
              <a:avLst/>
              <a:gdLst/>
              <a:ahLst/>
              <a:cxnLst/>
              <a:rect r="r" b="b" t="t" l="l"/>
              <a:pathLst>
                <a:path h="7732395" w="6957953">
                  <a:moveTo>
                    <a:pt x="0" y="7732395"/>
                  </a:moveTo>
                  <a:lnTo>
                    <a:pt x="6957953" y="7732395"/>
                  </a:lnTo>
                  <a:lnTo>
                    <a:pt x="69579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6953127" cy="7734300"/>
            </a:xfrm>
            <a:custGeom>
              <a:avLst/>
              <a:gdLst/>
              <a:ahLst/>
              <a:cxnLst/>
              <a:rect r="r" b="b" t="t" l="l"/>
              <a:pathLst>
                <a:path h="7734300" w="6953127">
                  <a:moveTo>
                    <a:pt x="0" y="7734300"/>
                  </a:moveTo>
                  <a:lnTo>
                    <a:pt x="6953127" y="7734300"/>
                  </a:lnTo>
                  <a:lnTo>
                    <a:pt x="6953127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-95027" t="-821" r="-95096" b="-82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84100" y="2727312"/>
            <a:ext cx="9558176" cy="627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0"/>
              </a:lnSpc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ID –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SIH26155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Title – 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AI-Driven Multi-Vendor Network Security Compliance Auditor</a:t>
            </a:r>
          </a:p>
          <a:p>
            <a:pPr algn="l">
              <a:lnSpc>
                <a:spcPts val="6170"/>
              </a:lnSpc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Theme – Blockchain &amp; Cybersecurity PS Category – 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Software</a:t>
            </a:r>
          </a:p>
          <a:p>
            <a:pPr algn="l">
              <a:lnSpc>
                <a:spcPts val="6170"/>
              </a:lnSpc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ID – NSUT030</a:t>
            </a:r>
          </a:p>
          <a:p>
            <a:pPr algn="l">
              <a:lnSpc>
                <a:spcPts val="6170"/>
              </a:lnSpc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Name – _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Private Keys_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0" y="9713119"/>
            <a:ext cx="18287781" cy="573872"/>
            <a:chOff x="0" y="0"/>
            <a:chExt cx="18287784" cy="5738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7747" cy="573913"/>
            </a:xfrm>
            <a:custGeom>
              <a:avLst/>
              <a:gdLst/>
              <a:ahLst/>
              <a:cxnLst/>
              <a:rect r="r" b="b" t="t" l="l"/>
              <a:pathLst>
                <a:path h="573913" w="18287747">
                  <a:moveTo>
                    <a:pt x="0" y="0"/>
                  </a:moveTo>
                  <a:lnTo>
                    <a:pt x="0" y="573913"/>
                  </a:lnTo>
                  <a:lnTo>
                    <a:pt x="18287747" y="573913"/>
                  </a:lnTo>
                  <a:lnTo>
                    <a:pt x="18287747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0" y="9713119"/>
            <a:ext cx="18287914" cy="573881"/>
            <a:chOff x="0" y="0"/>
            <a:chExt cx="18287911" cy="5738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287870" cy="573907"/>
            </a:xfrm>
            <a:custGeom>
              <a:avLst/>
              <a:gdLst/>
              <a:ahLst/>
              <a:cxnLst/>
              <a:rect r="r" b="b" t="t" l="l"/>
              <a:pathLst>
                <a:path h="573907" w="18287870">
                  <a:moveTo>
                    <a:pt x="0" y="573907"/>
                  </a:moveTo>
                  <a:lnTo>
                    <a:pt x="18287870" y="573907"/>
                  </a:lnTo>
                  <a:lnTo>
                    <a:pt x="18287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28658" y="5356144"/>
            <a:ext cx="702728" cy="545005"/>
            <a:chOff x="0" y="0"/>
            <a:chExt cx="185081" cy="1435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5081" cy="143540"/>
            </a:xfrm>
            <a:custGeom>
              <a:avLst/>
              <a:gdLst/>
              <a:ahLst/>
              <a:cxnLst/>
              <a:rect r="r" b="b" t="t" l="l"/>
              <a:pathLst>
                <a:path h="143540" w="185081">
                  <a:moveTo>
                    <a:pt x="0" y="0"/>
                  </a:moveTo>
                  <a:lnTo>
                    <a:pt x="185081" y="0"/>
                  </a:lnTo>
                  <a:lnTo>
                    <a:pt x="185081" y="143540"/>
                  </a:lnTo>
                  <a:lnTo>
                    <a:pt x="0" y="1435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85081" cy="181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77300" y="645928"/>
            <a:ext cx="1299544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330">
                <a:solidFill>
                  <a:srgbClr val="1F497D"/>
                </a:solidFill>
                <a:latin typeface="Calistoga"/>
                <a:ea typeface="Calistoga"/>
                <a:cs typeface="Calistoga"/>
                <a:sym typeface="Calistoga"/>
              </a:rPr>
              <a:t>SMART INDIA HACKATHON 2026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19343" y="1469117"/>
            <a:ext cx="174879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31214" y="9840592"/>
            <a:ext cx="3991889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7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SMART INDIA HACKATHON 2026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903717" y="9646444"/>
            <a:ext cx="211147" cy="58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3462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62682" y="8408305"/>
            <a:ext cx="18288000" cy="10306050"/>
            <a:chOff x="0" y="0"/>
            <a:chExt cx="243840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41400"/>
                  </a:lnTo>
                  <a:lnTo>
                    <a:pt x="0" y="1374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51" r="0" b="-35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7138" y="0"/>
            <a:ext cx="18405138" cy="10375896"/>
          </a:xfrm>
          <a:custGeom>
            <a:avLst/>
            <a:gdLst/>
            <a:ahLst/>
            <a:cxnLst/>
            <a:rect r="r" b="b" t="t" l="l"/>
            <a:pathLst>
              <a:path h="10375896" w="18405138">
                <a:moveTo>
                  <a:pt x="0" y="0"/>
                </a:moveTo>
                <a:lnTo>
                  <a:pt x="18405138" y="0"/>
                </a:lnTo>
                <a:lnTo>
                  <a:pt x="18405138" y="10375896"/>
                </a:lnTo>
                <a:lnTo>
                  <a:pt x="0" y="10375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36716" y="1429557"/>
            <a:ext cx="2949808" cy="302240"/>
            <a:chOff x="0" y="0"/>
            <a:chExt cx="776904" cy="796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6904" cy="79602"/>
            </a:xfrm>
            <a:custGeom>
              <a:avLst/>
              <a:gdLst/>
              <a:ahLst/>
              <a:cxnLst/>
              <a:rect r="r" b="b" t="t" l="l"/>
              <a:pathLst>
                <a:path h="79602" w="776904">
                  <a:moveTo>
                    <a:pt x="39368" y="0"/>
                  </a:moveTo>
                  <a:lnTo>
                    <a:pt x="737536" y="0"/>
                  </a:lnTo>
                  <a:cubicBezTo>
                    <a:pt x="759278" y="0"/>
                    <a:pt x="776904" y="17626"/>
                    <a:pt x="776904" y="39368"/>
                  </a:cubicBezTo>
                  <a:lnTo>
                    <a:pt x="776904" y="40234"/>
                  </a:lnTo>
                  <a:cubicBezTo>
                    <a:pt x="776904" y="61977"/>
                    <a:pt x="759278" y="79602"/>
                    <a:pt x="737536" y="79602"/>
                  </a:cubicBezTo>
                  <a:lnTo>
                    <a:pt x="39368" y="79602"/>
                  </a:lnTo>
                  <a:cubicBezTo>
                    <a:pt x="17626" y="79602"/>
                    <a:pt x="0" y="61977"/>
                    <a:pt x="0" y="40234"/>
                  </a:cubicBezTo>
                  <a:lnTo>
                    <a:pt x="0" y="39368"/>
                  </a:lnTo>
                  <a:cubicBezTo>
                    <a:pt x="0" y="17626"/>
                    <a:pt x="17626" y="0"/>
                    <a:pt x="39368" y="0"/>
                  </a:cubicBezTo>
                  <a:close/>
                </a:path>
              </a:pathLst>
            </a:custGeom>
            <a:solidFill>
              <a:srgbClr val="FAF5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76904" cy="11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90019" y="1429557"/>
            <a:ext cx="2949808" cy="302240"/>
            <a:chOff x="0" y="0"/>
            <a:chExt cx="776904" cy="796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6904" cy="79602"/>
            </a:xfrm>
            <a:custGeom>
              <a:avLst/>
              <a:gdLst/>
              <a:ahLst/>
              <a:cxnLst/>
              <a:rect r="r" b="b" t="t" l="l"/>
              <a:pathLst>
                <a:path h="79602" w="776904">
                  <a:moveTo>
                    <a:pt x="39368" y="0"/>
                  </a:moveTo>
                  <a:lnTo>
                    <a:pt x="737536" y="0"/>
                  </a:lnTo>
                  <a:cubicBezTo>
                    <a:pt x="759278" y="0"/>
                    <a:pt x="776904" y="17626"/>
                    <a:pt x="776904" y="39368"/>
                  </a:cubicBezTo>
                  <a:lnTo>
                    <a:pt x="776904" y="40234"/>
                  </a:lnTo>
                  <a:cubicBezTo>
                    <a:pt x="776904" y="61977"/>
                    <a:pt x="759278" y="79602"/>
                    <a:pt x="737536" y="79602"/>
                  </a:cubicBezTo>
                  <a:lnTo>
                    <a:pt x="39368" y="79602"/>
                  </a:lnTo>
                  <a:cubicBezTo>
                    <a:pt x="17626" y="79602"/>
                    <a:pt x="0" y="61977"/>
                    <a:pt x="0" y="40234"/>
                  </a:cubicBezTo>
                  <a:lnTo>
                    <a:pt x="0" y="39368"/>
                  </a:lnTo>
                  <a:cubicBezTo>
                    <a:pt x="0" y="17626"/>
                    <a:pt x="17626" y="0"/>
                    <a:pt x="39368" y="0"/>
                  </a:cubicBezTo>
                  <a:close/>
                </a:path>
              </a:pathLst>
            </a:custGeom>
            <a:solidFill>
              <a:srgbClr val="ECFA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76904" cy="11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7911" y="1429557"/>
            <a:ext cx="2949808" cy="302240"/>
            <a:chOff x="0" y="0"/>
            <a:chExt cx="776904" cy="796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6904" cy="79602"/>
            </a:xfrm>
            <a:custGeom>
              <a:avLst/>
              <a:gdLst/>
              <a:ahLst/>
              <a:cxnLst/>
              <a:rect r="r" b="b" t="t" l="l"/>
              <a:pathLst>
                <a:path h="79602" w="776904">
                  <a:moveTo>
                    <a:pt x="39368" y="0"/>
                  </a:moveTo>
                  <a:lnTo>
                    <a:pt x="737536" y="0"/>
                  </a:lnTo>
                  <a:cubicBezTo>
                    <a:pt x="759278" y="0"/>
                    <a:pt x="776904" y="17626"/>
                    <a:pt x="776904" y="39368"/>
                  </a:cubicBezTo>
                  <a:lnTo>
                    <a:pt x="776904" y="40234"/>
                  </a:lnTo>
                  <a:cubicBezTo>
                    <a:pt x="776904" y="61977"/>
                    <a:pt x="759278" y="79602"/>
                    <a:pt x="737536" y="79602"/>
                  </a:cubicBezTo>
                  <a:lnTo>
                    <a:pt x="39368" y="79602"/>
                  </a:lnTo>
                  <a:cubicBezTo>
                    <a:pt x="17626" y="79602"/>
                    <a:pt x="0" y="61977"/>
                    <a:pt x="0" y="40234"/>
                  </a:cubicBezTo>
                  <a:lnTo>
                    <a:pt x="0" y="39368"/>
                  </a:lnTo>
                  <a:cubicBezTo>
                    <a:pt x="0" y="17626"/>
                    <a:pt x="17626" y="0"/>
                    <a:pt x="39368" y="0"/>
                  </a:cubicBezTo>
                  <a:close/>
                </a:path>
              </a:pathLst>
            </a:custGeom>
            <a:solidFill>
              <a:srgbClr val="EBF7F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76904" cy="11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905785" y="1445318"/>
            <a:ext cx="2611671" cy="23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b="true" sz="12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4" tooltip="https://github.com/Kumar2004-2009/SIH2026"/>
              </a:rPr>
              <a:t>github.com/kumar/SIH2026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98239" y="1445318"/>
            <a:ext cx="1601887" cy="23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b="true" sz="12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5" tooltip="https://youtu.be/K6duj_CVVWc?si=js-F1sHZp3jwm33M"/>
              </a:rPr>
              <a:t>Project Demo Video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26769" y="1445318"/>
            <a:ext cx="852091" cy="23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b="true" sz="12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6" tooltip="https://sih-2026-cpwv.vercel.app"/>
              </a:rPr>
              <a:t>Live Demo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51186"/>
            <a:ext cx="18288000" cy="10438186"/>
            <a:chOff x="0" y="0"/>
            <a:chExt cx="24384000" cy="139175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917581"/>
            </a:xfrm>
            <a:custGeom>
              <a:avLst/>
              <a:gdLst/>
              <a:ahLst/>
              <a:cxnLst/>
              <a:rect r="r" b="b" t="t" l="l"/>
              <a:pathLst>
                <a:path h="1391758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917581"/>
                  </a:lnTo>
                  <a:lnTo>
                    <a:pt x="0" y="13917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4" t="0" r="-734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51619"/>
            <a:ext cx="1366256" cy="1008250"/>
            <a:chOff x="0" y="0"/>
            <a:chExt cx="1366253" cy="1008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239008" cy="881256"/>
            </a:xfrm>
            <a:custGeom>
              <a:avLst/>
              <a:gdLst/>
              <a:ahLst/>
              <a:cxnLst/>
              <a:rect r="r" b="b" t="t" l="l"/>
              <a:pathLst>
                <a:path h="881256" w="1239008">
                  <a:moveTo>
                    <a:pt x="0" y="0"/>
                  </a:moveTo>
                  <a:lnTo>
                    <a:pt x="0" y="881256"/>
                  </a:lnTo>
                  <a:lnTo>
                    <a:pt x="1239008" y="881256"/>
                  </a:lnTo>
                  <a:lnTo>
                    <a:pt x="123900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239008" cy="881256"/>
            </a:xfrm>
            <a:custGeom>
              <a:avLst/>
              <a:gdLst/>
              <a:ahLst/>
              <a:cxnLst/>
              <a:rect r="r" b="b" t="t" l="l"/>
              <a:pathLst>
                <a:path h="881256" w="1239008">
                  <a:moveTo>
                    <a:pt x="0" y="881256"/>
                  </a:moveTo>
                  <a:lnTo>
                    <a:pt x="1239008" y="881256"/>
                  </a:lnTo>
                  <a:lnTo>
                    <a:pt x="1239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12193" cy="10164680"/>
          </a:xfrm>
          <a:custGeom>
            <a:avLst/>
            <a:gdLst/>
            <a:ahLst/>
            <a:cxnLst/>
            <a:rect r="r" b="b" t="t" l="l"/>
            <a:pathLst>
              <a:path h="10164680" w="18212193">
                <a:moveTo>
                  <a:pt x="0" y="0"/>
                </a:moveTo>
                <a:lnTo>
                  <a:pt x="18212193" y="0"/>
                </a:lnTo>
                <a:lnTo>
                  <a:pt x="18212193" y="10164680"/>
                </a:lnTo>
                <a:lnTo>
                  <a:pt x="0" y="10164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98430"/>
          </a:xfrm>
          <a:custGeom>
            <a:avLst/>
            <a:gdLst/>
            <a:ahLst/>
            <a:cxnLst/>
            <a:rect r="r" b="b" t="t" l="l"/>
            <a:pathLst>
              <a:path h="10298430" w="18288000">
                <a:moveTo>
                  <a:pt x="0" y="0"/>
                </a:moveTo>
                <a:lnTo>
                  <a:pt x="18288000" y="0"/>
                </a:lnTo>
                <a:lnTo>
                  <a:pt x="18288000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8727" y="1277306"/>
            <a:ext cx="7389565" cy="3770944"/>
          </a:xfrm>
          <a:custGeom>
            <a:avLst/>
            <a:gdLst/>
            <a:ahLst/>
            <a:cxnLst/>
            <a:rect r="r" b="b" t="t" l="l"/>
            <a:pathLst>
              <a:path h="3770944" w="7389565">
                <a:moveTo>
                  <a:pt x="0" y="0"/>
                </a:moveTo>
                <a:lnTo>
                  <a:pt x="7389565" y="0"/>
                </a:lnTo>
                <a:lnTo>
                  <a:pt x="7389565" y="3770944"/>
                </a:lnTo>
                <a:lnTo>
                  <a:pt x="0" y="3770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254" t="-29395" r="-71215" b="-1580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8741" y="1277306"/>
            <a:ext cx="9018418" cy="8280332"/>
          </a:xfrm>
          <a:custGeom>
            <a:avLst/>
            <a:gdLst/>
            <a:ahLst/>
            <a:cxnLst/>
            <a:rect r="r" b="b" t="t" l="l"/>
            <a:pathLst>
              <a:path h="8280332" w="9018418">
                <a:moveTo>
                  <a:pt x="0" y="0"/>
                </a:moveTo>
                <a:lnTo>
                  <a:pt x="9018418" y="0"/>
                </a:lnTo>
                <a:lnTo>
                  <a:pt x="9018418" y="8280332"/>
                </a:lnTo>
                <a:lnTo>
                  <a:pt x="0" y="8280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0" t="0" r="-64334" b="-14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3503" y="9649616"/>
            <a:ext cx="18414997" cy="700878"/>
            <a:chOff x="0" y="0"/>
            <a:chExt cx="18415000" cy="700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1"/>
              <a:ext cx="18287746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7746">
                  <a:moveTo>
                    <a:pt x="0" y="0"/>
                  </a:moveTo>
                  <a:lnTo>
                    <a:pt x="0" y="573918"/>
                  </a:lnTo>
                  <a:lnTo>
                    <a:pt x="18287746" y="573918"/>
                  </a:lnTo>
                  <a:lnTo>
                    <a:pt x="1828774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1"/>
              <a:ext cx="18288000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8000">
                  <a:moveTo>
                    <a:pt x="0" y="573918"/>
                  </a:moveTo>
                  <a:lnTo>
                    <a:pt x="18288000" y="573918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1"/>
              <a:ext cx="18288000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8000">
                  <a:moveTo>
                    <a:pt x="0" y="573918"/>
                  </a:moveTo>
                  <a:lnTo>
                    <a:pt x="18288000" y="573918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1"/>
              <a:ext cx="18287873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7873">
                  <a:moveTo>
                    <a:pt x="0" y="573918"/>
                  </a:moveTo>
                  <a:lnTo>
                    <a:pt x="18287873" y="573918"/>
                  </a:lnTo>
                  <a:lnTo>
                    <a:pt x="182878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048995" y="5143500"/>
            <a:ext cx="11038129" cy="4414138"/>
          </a:xfrm>
          <a:custGeom>
            <a:avLst/>
            <a:gdLst/>
            <a:ahLst/>
            <a:cxnLst/>
            <a:rect r="r" b="b" t="t" l="l"/>
            <a:pathLst>
              <a:path h="4414138" w="11038129">
                <a:moveTo>
                  <a:pt x="0" y="0"/>
                </a:moveTo>
                <a:lnTo>
                  <a:pt x="11038129" y="0"/>
                </a:lnTo>
                <a:lnTo>
                  <a:pt x="11038129" y="4414138"/>
                </a:lnTo>
                <a:lnTo>
                  <a:pt x="0" y="441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1973" y="99884"/>
            <a:ext cx="17508497" cy="928816"/>
          </a:xfrm>
          <a:custGeom>
            <a:avLst/>
            <a:gdLst/>
            <a:ahLst/>
            <a:cxnLst/>
            <a:rect r="r" b="b" t="t" l="l"/>
            <a:pathLst>
              <a:path h="928816" w="17508497">
                <a:moveTo>
                  <a:pt x="0" y="0"/>
                </a:moveTo>
                <a:lnTo>
                  <a:pt x="17508497" y="0"/>
                </a:lnTo>
                <a:lnTo>
                  <a:pt x="17508497" y="928816"/>
                </a:lnTo>
                <a:lnTo>
                  <a:pt x="0" y="928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4" t="-9733" r="-863" b="-97767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18351494" cy="10357124"/>
          </a:xfrm>
          <a:custGeom>
            <a:avLst/>
            <a:gdLst/>
            <a:ahLst/>
            <a:cxnLst/>
            <a:rect r="r" b="b" t="t" l="l"/>
            <a:pathLst>
              <a:path h="10357124" w="18351494">
                <a:moveTo>
                  <a:pt x="0" y="0"/>
                </a:moveTo>
                <a:lnTo>
                  <a:pt x="18351494" y="0"/>
                </a:lnTo>
                <a:lnTo>
                  <a:pt x="18351494" y="10357124"/>
                </a:lnTo>
                <a:lnTo>
                  <a:pt x="0" y="10357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21290"/>
          </a:xfrm>
          <a:custGeom>
            <a:avLst/>
            <a:gdLst/>
            <a:ahLst/>
            <a:cxnLst/>
            <a:rect r="r" b="b" t="t" l="l"/>
            <a:pathLst>
              <a:path h="10321290" w="18288000">
                <a:moveTo>
                  <a:pt x="0" y="0"/>
                </a:moveTo>
                <a:lnTo>
                  <a:pt x="18288000" y="0"/>
                </a:lnTo>
                <a:lnTo>
                  <a:pt x="18288000" y="10321290"/>
                </a:lnTo>
                <a:lnTo>
                  <a:pt x="0" y="1032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t="0" r="-2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70735" y="2772"/>
            <a:ext cx="1095090" cy="1292206"/>
          </a:xfrm>
          <a:custGeom>
            <a:avLst/>
            <a:gdLst/>
            <a:ahLst/>
            <a:cxnLst/>
            <a:rect r="r" b="b" t="t" l="l"/>
            <a:pathLst>
              <a:path h="1292206" w="1095090">
                <a:moveTo>
                  <a:pt x="0" y="0"/>
                </a:moveTo>
                <a:lnTo>
                  <a:pt x="1095090" y="0"/>
                </a:lnTo>
                <a:lnTo>
                  <a:pt x="1095090" y="1292206"/>
                </a:lnTo>
                <a:lnTo>
                  <a:pt x="0" y="1292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807294"/>
            <a:ext cx="18079933" cy="1084139"/>
          </a:xfrm>
          <a:custGeom>
            <a:avLst/>
            <a:gdLst/>
            <a:ahLst/>
            <a:cxnLst/>
            <a:rect r="r" b="b" t="t" l="l"/>
            <a:pathLst>
              <a:path h="1084139" w="18079933">
                <a:moveTo>
                  <a:pt x="0" y="0"/>
                </a:moveTo>
                <a:lnTo>
                  <a:pt x="18079933" y="0"/>
                </a:lnTo>
                <a:lnTo>
                  <a:pt x="18079933" y="1084139"/>
                </a:lnTo>
                <a:lnTo>
                  <a:pt x="0" y="1084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2336" y="8830300"/>
            <a:ext cx="6382512" cy="42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2415" spc="120" b="true">
                <a:solidFill>
                  <a:srgbClr val="0000FF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Standards &amp; Compliance Foundations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66525" y="9234379"/>
            <a:ext cx="229969" cy="657054"/>
          </a:xfrm>
          <a:custGeom>
            <a:avLst/>
            <a:gdLst/>
            <a:ahLst/>
            <a:cxnLst/>
            <a:rect r="r" b="b" t="t" l="l"/>
            <a:pathLst>
              <a:path h="657054" w="229969">
                <a:moveTo>
                  <a:pt x="0" y="0"/>
                </a:moveTo>
                <a:lnTo>
                  <a:pt x="229968" y="0"/>
                </a:lnTo>
                <a:lnTo>
                  <a:pt x="229968" y="657054"/>
                </a:lnTo>
                <a:lnTo>
                  <a:pt x="0" y="657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24982" y="9234379"/>
            <a:ext cx="219018" cy="657054"/>
          </a:xfrm>
          <a:custGeom>
            <a:avLst/>
            <a:gdLst/>
            <a:ahLst/>
            <a:cxnLst/>
            <a:rect r="r" b="b" t="t" l="l"/>
            <a:pathLst>
              <a:path h="657054" w="219018">
                <a:moveTo>
                  <a:pt x="0" y="0"/>
                </a:moveTo>
                <a:lnTo>
                  <a:pt x="219018" y="0"/>
                </a:lnTo>
                <a:lnTo>
                  <a:pt x="219018" y="657054"/>
                </a:lnTo>
                <a:lnTo>
                  <a:pt x="0" y="6570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0525" y="9234379"/>
            <a:ext cx="229969" cy="657054"/>
          </a:xfrm>
          <a:custGeom>
            <a:avLst/>
            <a:gdLst/>
            <a:ahLst/>
            <a:cxnLst/>
            <a:rect r="r" b="b" t="t" l="l"/>
            <a:pathLst>
              <a:path h="657054" w="229969">
                <a:moveTo>
                  <a:pt x="0" y="0"/>
                </a:moveTo>
                <a:lnTo>
                  <a:pt x="229968" y="0"/>
                </a:lnTo>
                <a:lnTo>
                  <a:pt x="229968" y="657054"/>
                </a:lnTo>
                <a:lnTo>
                  <a:pt x="0" y="6570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672415"/>
            <a:ext cx="18288000" cy="646103"/>
          </a:xfrm>
          <a:custGeom>
            <a:avLst/>
            <a:gdLst/>
            <a:ahLst/>
            <a:cxnLst/>
            <a:rect r="r" b="b" t="t" l="l"/>
            <a:pathLst>
              <a:path h="646103" w="18288000">
                <a:moveTo>
                  <a:pt x="0" y="0"/>
                </a:moveTo>
                <a:lnTo>
                  <a:pt x="18288000" y="0"/>
                </a:lnTo>
                <a:lnTo>
                  <a:pt x="18288000" y="646103"/>
                </a:lnTo>
                <a:lnTo>
                  <a:pt x="0" y="6461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13706" y="2864265"/>
            <a:ext cx="3086100" cy="229702"/>
            <a:chOff x="0" y="0"/>
            <a:chExt cx="812800" cy="604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0498"/>
            </a:xfrm>
            <a:custGeom>
              <a:avLst/>
              <a:gdLst/>
              <a:ahLst/>
              <a:cxnLst/>
              <a:rect r="r" b="b" t="t" l="l"/>
              <a:pathLst>
                <a:path h="6049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0498"/>
                  </a:lnTo>
                  <a:lnTo>
                    <a:pt x="0" y="604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12800" cy="117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31536" y="168793"/>
            <a:ext cx="7424928" cy="60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b="true" sz="3589" spc="-3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RESEARCH AND REFERENCES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1808" y="237339"/>
            <a:ext cx="1261872" cy="66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  <a:r>
              <a:rPr lang="en-US" sz="1390" b="true">
                <a:solidFill>
                  <a:srgbClr val="004AAD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SMART INDIA HACKATHON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5760" y="989531"/>
            <a:ext cx="7662672" cy="39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302" spc="115" b="true">
                <a:solidFill>
                  <a:srgbClr val="0000FF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Configuration Analysis &amp; Verification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5760" y="1379060"/>
            <a:ext cx="17538192" cy="59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316" indent="-173658" lvl="1">
              <a:lnSpc>
                <a:spcPts val="2252"/>
              </a:lnSpc>
              <a:buFont typeface="Arial"/>
              <a:buChar char="•"/>
            </a:pPr>
            <a:r>
              <a:rPr lang="en-US" b="true" sz="1608" spc="8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Ari Fogel, Stanley Fung, Luis Pedrosa, Meg Walraad-Sullivan, Ramesh Govindan, Ratul Mahajan, Todd Millstein. “A General Approach to Network Configuration Analysis,” UENIX NSDI 2015: </a:t>
            </a:r>
            <a:r>
              <a:rPr lang="en-US" sz="1608" spc="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Proactive configuration analysis, what-if analysis, and provenance of detected errors.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960" y="1946223"/>
            <a:ext cx="8321040" cy="25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b="true" sz="1460" spc="73" u="sng">
                <a:solidFill>
                  <a:srgbClr val="004AAD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https://www.usenix.org/conference/nsdi15/technical-sessions/presentation/fogel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4904" y="2294348"/>
            <a:ext cx="17538192" cy="82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15" indent="-170458" lvl="1">
              <a:lnSpc>
                <a:spcPts val="2210"/>
              </a:lnSpc>
              <a:buFont typeface="Arial"/>
              <a:buChar char="•"/>
            </a:pPr>
            <a:r>
              <a:rPr lang="en-US" b="true" sz="1579" spc="78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Siva Kesava Reddy Kakarla, Alan Tang, Ryan Beckett, Barthick Jayaraman, Todd Millstein, Yuval Tamir, George Vaghese. “Finding Network Misconfigurations by Automatic Template Inference,” UENIX NSDI 2020: </a:t>
            </a:r>
            <a:r>
              <a:rPr lang="en-US" sz="1579" spc="78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Detects configuration outliers without complete formal specifications; SelfStarter found 43 previously unknown bugs. </a:t>
            </a:r>
            <a:r>
              <a:rPr lang="en-US" sz="1579" spc="78" u="sng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https://www.usenix.org/conference/nsdi20/presentation/kakarta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5760" y="3234571"/>
            <a:ext cx="17538192" cy="55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15" indent="-170458" lvl="1">
              <a:lnSpc>
                <a:spcPts val="2210"/>
              </a:lnSpc>
              <a:buFont typeface="Arial"/>
              <a:buChar char="•"/>
            </a:pPr>
            <a:r>
              <a:rPr lang="en-US" b="true" sz="1579" spc="78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Rüdiger Birkner, Dana Drachler-Cohen, Laurent Vanbever, Martin Vechev. “Config2Spec: Mining Network Specifications from Network Configurations,” UENIX NSDI 2020: </a:t>
            </a:r>
            <a:r>
              <a:rPr lang="en-US" sz="1579" spc="78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Mines formal network policies/specifications from existing configurations. </a:t>
            </a:r>
            <a:r>
              <a:rPr lang="en-US" sz="1579" spc="78" u="sng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https://www.usenix.org/conference/nsdi20/presentation/birkner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5760" y="4063982"/>
            <a:ext cx="6126480" cy="40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 spc="116" b="true">
                <a:solidFill>
                  <a:srgbClr val="0000FF"/>
                </a:solidFill>
                <a:latin typeface="Poppins Bold"/>
                <a:ea typeface="Poppins Bold"/>
                <a:cs typeface="Poppins Bold"/>
                <a:sym typeface="Poppins Bold"/>
              </a:rPr>
              <a:t>LLM-Assisted Network Configuration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5760" y="4574710"/>
            <a:ext cx="17538192" cy="5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116" indent="-164058" lvl="1">
              <a:lnSpc>
                <a:spcPts val="2127"/>
              </a:lnSpc>
              <a:buFont typeface="Arial"/>
              <a:buChar char="•"/>
            </a:pPr>
            <a:r>
              <a:rPr lang="en-US" b="true" sz="1519" spc="75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Changjie Wang, Mariano Scazzariello, Alireza Farshin, Simone Ferlin, Dejan Kostić, Marco Chiesa. “NetConfEval: Can LLMs Facilitate Network Configuration?” </a:t>
            </a:r>
            <a:r>
              <a:rPr lang="en-US" sz="1519" spc="75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Proceedings of the ACM on Networking, CoNEXT2, 2024: Benchmark and study of LLM-assisted network configuration. </a:t>
            </a:r>
            <a:r>
              <a:rPr lang="en-US" sz="1519" spc="75" u="sng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https://www.org/10.1145/3656296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5760" y="5225510"/>
            <a:ext cx="17538192" cy="55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15" indent="-170458" lvl="1">
              <a:lnSpc>
                <a:spcPts val="2210"/>
              </a:lnSpc>
              <a:buFont typeface="Arial"/>
              <a:buChar char="•"/>
            </a:pPr>
            <a:r>
              <a:rPr lang="en-US" b="true" sz="1579" spc="78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Yunze Wei, Xiaohui Xie, Yiwei Zuo, Tianshuo Hu, Xinyen Chen, Kaiwen Chi, Yong Cui. “Leveraging LLM Agents for Translating Network Configurations,” </a:t>
            </a:r>
            <a:r>
              <a:rPr lang="en-US" sz="1579" spc="78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arXiv 2025: </a:t>
            </a:r>
            <a:r>
              <a:rPr lang="en-US" sz="1579" spc="78" u="sng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Intent-based configuration translation with retrieval and two-stage syntax/semantic verification. </a:t>
            </a:r>
            <a:r>
              <a:rPr lang="en-US" sz="1579" spc="78" u="none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1579" spc="78" u="sng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https://arxiv.org/abs/2501.08760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5760" y="5898410"/>
            <a:ext cx="17538192" cy="82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15" indent="-170458" lvl="1">
              <a:lnSpc>
                <a:spcPts val="2210"/>
              </a:lnSpc>
              <a:buFont typeface="Arial"/>
              <a:buChar char="•"/>
            </a:pPr>
            <a:r>
              <a:rPr lang="en-US" b="true" sz="1579" spc="78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Fan Liu, Behrooz Farkiani, Patrick Crowley. “Large Language Models for computer networking operations and management: A survey on applications, key techniques, and opportunities,” Computer Networks, 2025, Volume 271, Article 111614: Survey of LLMs across network design, automation, optimization, and security; discusses privacy, explainability, and legacy integration. </a:t>
            </a:r>
            <a:r>
              <a:rPr lang="en-US" b="true" sz="1579" spc="78" u="sng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https://dior.org/10.1016/f/comm net.2025.111614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5760" y="6869506"/>
            <a:ext cx="6071616" cy="39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302" spc="115" b="true">
                <a:solidFill>
                  <a:srgbClr val="0000FF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Graphs &amp; Evidence Integrity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5760" y="7350554"/>
            <a:ext cx="17538192" cy="55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15" indent="-170458" lvl="1">
              <a:lnSpc>
                <a:spcPts val="2210"/>
              </a:lnSpc>
              <a:buFont typeface="Arial"/>
              <a:buChar char="•"/>
            </a:pPr>
            <a:r>
              <a:rPr lang="en-US" b="true" sz="1579" spc="78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“Attack graph analysis: An explanatory guide,” Computers &amp; Security, Volume 126, March 2023, Article 103081: </a:t>
            </a:r>
            <a:r>
              <a:rPr lang="en-US" sz="1579" spc="78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Attack graph modeling from topology, configuration, vulnerabilities, and security-control analysis. </a:t>
            </a:r>
            <a:r>
              <a:rPr lang="en-US" sz="1579" spc="78" u="sng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https://dior.org/10.1016/f/case.2022.103081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5760" y="8000446"/>
            <a:ext cx="17538192" cy="55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15" indent="-170458" lvl="1">
              <a:lnSpc>
                <a:spcPts val="2210"/>
              </a:lnSpc>
              <a:buFont typeface="Arial"/>
              <a:buChar char="•"/>
            </a:pPr>
            <a:r>
              <a:rPr lang="en-US" b="true" sz="1579" spc="78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Andreas Haeberlen, Ioannis Avramopoulos, Jennifer rexford, Peter Drusche. “NetReview: Detecting when interdomain routing goes wrong,” </a:t>
            </a:r>
            <a:r>
              <a:rPr lang="en-US" sz="1579" spc="78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USEIX NSDI 2009: Tamper evident logs and verifiable audit evidence for routing behavior.</a:t>
            </a:r>
            <a:r>
              <a:rPr lang="en-US" sz="1579" spc="78" u="sng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68896" y="9942139"/>
            <a:ext cx="3950208" cy="31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b="true" sz="1861">
                <a:solidFill>
                  <a:srgbClr val="FFFFFF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SMART INDIA HACKATHON 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27296" y="9937177"/>
            <a:ext cx="182880" cy="32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b="true" sz="1942">
                <a:solidFill>
                  <a:srgbClr val="FFFFFF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1520" y="8457120"/>
            <a:ext cx="11868912" cy="2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579" spc="78" u="sng">
                <a:solidFill>
                  <a:srgbClr val="004AAD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https://www.usenix.org/legacy/events/nsdi09/techfull papers/hauberlen/hauberlen.html/index.html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5760" y="9283142"/>
            <a:ext cx="4133088" cy="4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1323" indent="-125662" lvl="1">
              <a:lnSpc>
                <a:spcPts val="16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164" spc="58" strike="noStrike" u="non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CIS Benchmarks:</a:t>
            </a:r>
          </a:p>
          <a:p>
            <a:pPr algn="l" marL="251323" indent="-125662" lvl="1">
              <a:lnSpc>
                <a:spcPts val="1629"/>
              </a:lnSpc>
              <a:spcBef>
                <a:spcPct val="0"/>
              </a:spcBef>
              <a:buFont typeface="Arial"/>
              <a:buChar char="•"/>
            </a:pPr>
            <a:r>
              <a:rPr lang="en-US" sz="1164" spc="58" strike="noStrike" u="none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Configuration best practices for network devices.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91456" y="9283142"/>
            <a:ext cx="4133088" cy="4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1323" indent="-125662" lvl="1">
              <a:lnSpc>
                <a:spcPts val="16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164" spc="58" strike="noStrike" u="non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NIST SP 800-53:</a:t>
            </a:r>
          </a:p>
          <a:p>
            <a:pPr algn="l" marL="251323" indent="-125662" lvl="1">
              <a:lnSpc>
                <a:spcPts val="1629"/>
              </a:lnSpc>
              <a:spcBef>
                <a:spcPct val="0"/>
              </a:spcBef>
              <a:buFont typeface="Arial"/>
              <a:buChar char="•"/>
            </a:pPr>
            <a:r>
              <a:rPr lang="en-US" sz="1164" spc="58" strike="noStrike" u="none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Security and privacy controls for federal systems.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9292997"/>
            <a:ext cx="4133088" cy="38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2707" indent="-116353" lvl="1">
              <a:lnSpc>
                <a:spcPts val="15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077" spc="53" strike="noStrike" u="non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DISA STIGS:</a:t>
            </a:r>
          </a:p>
          <a:p>
            <a:pPr algn="l" marL="232707" indent="-116353" lvl="1">
              <a:lnSpc>
                <a:spcPts val="1508"/>
              </a:lnSpc>
              <a:spcBef>
                <a:spcPct val="0"/>
              </a:spcBef>
              <a:buFont typeface="Arial"/>
              <a:buChar char="•"/>
            </a:pPr>
            <a:r>
              <a:rPr lang="en-US" sz="1077" spc="53" strike="noStrike" u="none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Secure configuration standards for network devices.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16000" y="9282263"/>
            <a:ext cx="4133088" cy="41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0631" indent="-130316" lvl="1">
              <a:lnSpc>
                <a:spcPts val="16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207" spc="60" strike="noStrike" u="none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ISO/IEC 27001:</a:t>
            </a:r>
          </a:p>
          <a:p>
            <a:pPr algn="l" marL="260631" indent="-130316" lvl="1">
              <a:lnSpc>
                <a:spcPts val="1690"/>
              </a:lnSpc>
              <a:spcBef>
                <a:spcPct val="0"/>
              </a:spcBef>
              <a:buFont typeface="Arial"/>
              <a:buChar char="•"/>
            </a:pPr>
            <a:r>
              <a:rPr lang="en-US" sz="1207" spc="60" strike="noStrike" u="none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Information security management framework.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148304" y="815450"/>
            <a:ext cx="219456" cy="13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b="true" sz="722" spc="36">
                <a:solidFill>
                  <a:srgbClr val="004AAD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SHH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DAHWqAffWFs</dc:identifier>
  <dcterms:modified xsi:type="dcterms:W3CDTF">2011-08-01T06:04:30Z</dcterms:modified>
  <cp:revision>1</cp:revision>
  <dc:title>SIH_New_ps</dc:title>
</cp:coreProperties>
</file>